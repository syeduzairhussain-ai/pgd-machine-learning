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Linear Regression (MLR)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multiple input variables</a:t>
            </a:r>
          </a:p>
          <a:p>
            <a:r>
              <a:t>Predicts one numerical output</a:t>
            </a:r>
          </a:p>
          <a:p>
            <a:r>
              <a:t>Widely used in real-world problems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SLR vs MLR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SLR: 1 input → 1 output</a:t>
            </a:r>
          </a:p>
          <a:p>
            <a:r>
              <a:rPr dirty="0"/>
              <a:t>MLR: multiple inputs → 1 output</a:t>
            </a:r>
          </a:p>
          <a:p>
            <a:r>
              <a:rPr dirty="0"/>
              <a:t>MLR handles complex relationships</a:t>
            </a:r>
            <a:endParaRPr lang="en-US" dirty="0"/>
          </a:p>
          <a:p>
            <a:r>
              <a:rPr lang="en-US" dirty="0"/>
              <a:t>* SLR: 1 Input (X) </a:t>
            </a:r>
            <a:r>
              <a:rPr lang="en-PK" dirty="0"/>
              <a:t>→ </a:t>
            </a:r>
            <a:r>
              <a:rPr lang="en-US" dirty="0"/>
              <a:t>1 Output (Y)</a:t>
            </a:r>
          </a:p>
          <a:p>
            <a:r>
              <a:rPr lang="en-US" dirty="0"/>
              <a:t>MLR: Multiple Inputs (X1, X2, ……, </a:t>
            </a:r>
            <a:r>
              <a:rPr lang="en-US" dirty="0" err="1"/>
              <a:t>Xn</a:t>
            </a:r>
            <a:r>
              <a:rPr lang="en-US" dirty="0"/>
              <a:t>) </a:t>
            </a:r>
            <a:r>
              <a:rPr lang="en-PK" dirty="0"/>
              <a:t>→</a:t>
            </a:r>
            <a:r>
              <a:rPr lang="en-US" dirty="0"/>
              <a:t> 1 Output (Y)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Geometric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SLR: Best Fit Line (2D)</a:t>
            </a:r>
            <a:endParaRPr lang="en-US" dirty="0"/>
          </a:p>
          <a:p>
            <a:r>
              <a:rPr lang="en-US" dirty="0"/>
              <a:t>In 2D space, the relationship is represented by a Best Fit Line</a:t>
            </a:r>
            <a:endParaRPr dirty="0"/>
          </a:p>
          <a:p>
            <a:r>
              <a:rPr dirty="0"/>
              <a:t>MLR: Best Fit Plane (3D)</a:t>
            </a:r>
            <a:endParaRPr lang="en-US" dirty="0"/>
          </a:p>
          <a:p>
            <a:r>
              <a:rPr lang="en-US" dirty="0"/>
              <a:t>If you have two input variables (e.g., CGPA and IQ) to predict a third (e.g., Package), the data is plotted in a 3D graph</a:t>
            </a:r>
            <a:endParaRPr dirty="0"/>
          </a:p>
          <a:p>
            <a:r>
              <a:rPr dirty="0"/>
              <a:t>Higher dimension → Hyperplane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Mathematical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SLR Formula: y = mx + b</a:t>
                </a:r>
              </a:p>
              <a:p>
                <a:r>
                  <a:rPr lang="en-US" dirty="0"/>
                  <a:t>The MLR Formula (for 2 inputs):</a:t>
                </a:r>
              </a:p>
              <a:p>
                <a:r>
                  <a:rPr lang="en-US" dirty="0"/>
                  <a:t>y = </a:t>
                </a:r>
                <a:r>
                  <a:rPr lang="el-GR" dirty="0"/>
                  <a:t>β0 + β1</a:t>
                </a:r>
                <a:r>
                  <a:rPr lang="en-US" dirty="0"/>
                  <a:t>x1 + </a:t>
                </a:r>
                <a:r>
                  <a:rPr lang="el-GR" dirty="0"/>
                  <a:t>β2</a:t>
                </a:r>
                <a:r>
                  <a:rPr lang="en-US" dirty="0"/>
                  <a:t>x2</a:t>
                </a:r>
              </a:p>
              <a:p>
                <a:r>
                  <a:rPr lang="el-GR" dirty="0"/>
                  <a:t>β0 = </a:t>
                </a:r>
                <a:r>
                  <a:rPr lang="en-US" dirty="0"/>
                  <a:t>Intercept</a:t>
                </a:r>
              </a:p>
              <a:p>
                <a:r>
                  <a:rPr lang="en-US" dirty="0"/>
                  <a:t>beta1, beta2 (Coefficients): Represent the weight or importance of each input variable </a:t>
                </a:r>
              </a:p>
              <a:p>
                <a:r>
                  <a:rPr lang="el-GR" dirty="0"/>
                  <a:t>Β = </a:t>
                </a:r>
                <a:r>
                  <a:rPr lang="en-US" dirty="0"/>
                  <a:t>importance of features</a:t>
                </a:r>
              </a:p>
              <a:p>
                <a:r>
                  <a:rPr lang="sv-SE" dirty="0"/>
                  <a:t>General Equation for n variables:</a:t>
                </a:r>
              </a:p>
              <a:p>
                <a14:m>
                  <m:oMath xmlns:m="http://schemas.openxmlformats.org/officeDocument/2006/math">
                    <m:r>
                      <a:rPr lang="sv-SE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l-GR" dirty="0"/>
                      <m:t>0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l-GR" dirty="0"/>
                      <m:t>1</m:t>
                    </m:r>
                    <m:r>
                      <m:rPr>
                        <m:nor/>
                      </m:rPr>
                      <a:rPr lang="en-US" dirty="0"/>
                      <m:t>x</m:t>
                    </m:r>
                    <m:r>
                      <m:rPr>
                        <m:nor/>
                      </m:rPr>
                      <a:rPr lang="en-US" dirty="0"/>
                      <m:t>1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l-GR" dirty="0"/>
                      <m:t>2</m:t>
                    </m:r>
                    <m:r>
                      <m:rPr>
                        <m:nor/>
                      </m:rPr>
                      <a:rPr lang="en-US" dirty="0"/>
                      <m:t>x</m:t>
                    </m:r>
                    <m:r>
                      <m:rPr>
                        <m:nor/>
                      </m:rPr>
                      <a:rPr lang="en-US" dirty="0"/>
                      <m:t>2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…….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b="0" i="0" dirty="0" smtClean="0"/>
                      <m:t>n</m:t>
                    </m:r>
                    <m:r>
                      <m:rPr>
                        <m:nor/>
                      </m:rPr>
                      <a:rPr lang="en-US" dirty="0"/>
                      <m:t>x</m:t>
                    </m:r>
                    <m:r>
                      <m:rPr>
                        <m:nor/>
                      </m:rPr>
                      <a:rPr lang="en-US" b="0" i="0" dirty="0" smtClean="0"/>
                      <m:t>n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2695" r="-118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Large β → strong influence</a:t>
            </a:r>
          </a:p>
          <a:p>
            <a:r>
              <a:rPr dirty="0"/>
              <a:t>Small β → weak influence</a:t>
            </a:r>
          </a:p>
          <a:p>
            <a:r>
              <a:rPr dirty="0"/>
              <a:t>Helps in decision making</a:t>
            </a:r>
            <a:endParaRPr lang="en-US" dirty="0"/>
          </a:p>
          <a:p>
            <a:r>
              <a:rPr lang="en-US" dirty="0"/>
              <a:t>Importance of Features: The coefficients indicate how much the output depends on a specific input</a:t>
            </a:r>
          </a:p>
          <a:p>
            <a:r>
              <a:rPr lang="en-US" dirty="0"/>
              <a:t>Intercept (</a:t>
            </a:r>
            <a:r>
              <a:rPr lang="el-GR" dirty="0"/>
              <a:t>β0</a:t>
            </a:r>
            <a:r>
              <a:rPr lang="en-US" dirty="0"/>
              <a:t>): This represents the baseline value of the output if all input variables were zero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Scikit-Learn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LinearRegression</a:t>
            </a:r>
          </a:p>
          <a:p>
            <a:r>
              <a:t>Train using model.fit()</a:t>
            </a:r>
          </a:p>
          <a:p>
            <a:r>
              <a:t>Predict using model.predict()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MSE → Error measurement</a:t>
            </a:r>
          </a:p>
          <a:p>
            <a:r>
              <a:t>R2 Score → Accuracy of model</a:t>
            </a:r>
          </a:p>
          <a:p>
            <a:r>
              <a:t>Higher R2 = Better fit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3D Visualization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Visualize plane in 3D</a:t>
            </a:r>
          </a:p>
          <a:p>
            <a:r>
              <a:t>Use Plotly for interactive graphs</a:t>
            </a:r>
          </a:p>
          <a:p>
            <a:r>
              <a:t>Rotate and analyze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sklearn.linear_model import LinearRegression</a:t>
            </a:r>
          </a:p>
          <a:p>
            <a:r>
              <a:t>model = LinearRegression()</a:t>
            </a:r>
          </a:p>
          <a:p>
            <a:r>
              <a:t>model.fit(X_train, y_train)</a:t>
            </a:r>
          </a:p>
          <a:p>
            <a:r>
              <a:t>pred = model.predict(X_test)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MLR is powerful for real-world problems</a:t>
            </a:r>
          </a:p>
          <a:p>
            <a:r>
              <a:t>Captures multiple relationships</a:t>
            </a:r>
          </a:p>
          <a:p>
            <a:r>
              <a:t>Next: Deep dive into math &amp;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366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Multiple Linear Regression (MLR)</vt:lpstr>
      <vt:lpstr>SLR vs MLR</vt:lpstr>
      <vt:lpstr>Geometric Intuition</vt:lpstr>
      <vt:lpstr>Mathematical Model</vt:lpstr>
      <vt:lpstr>Feature Importance</vt:lpstr>
      <vt:lpstr>Scikit-Learn Implementation</vt:lpstr>
      <vt:lpstr>Evaluation Metrics</vt:lpstr>
      <vt:lpstr>3D Visualization Concept</vt:lpstr>
      <vt:lpstr>Sample Code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Uzair Hussain</cp:lastModifiedBy>
  <cp:revision>5</cp:revision>
  <dcterms:created xsi:type="dcterms:W3CDTF">2013-01-27T09:14:16Z</dcterms:created>
  <dcterms:modified xsi:type="dcterms:W3CDTF">2026-04-17T16:13:40Z</dcterms:modified>
  <cp:category/>
</cp:coreProperties>
</file>