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0"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1810"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a:solidFill>
                  <a:srgbClr val="00E5FF"/>
                </a:solidFill>
                <a:latin typeface="Poppins"/>
              </a:rPr>
              <a:t>Mean Absolute Error (MAE)</a:t>
            </a:r>
          </a:p>
        </p:txBody>
      </p:sp>
      <p:sp>
        <p:nvSpPr>
          <p:cNvPr id="3" name="Content Placeholder 2"/>
          <p:cNvSpPr>
            <a:spLocks noGrp="1"/>
          </p:cNvSpPr>
          <p:nvPr>
            <p:ph idx="1"/>
          </p:nvPr>
        </p:nvSpPr>
        <p:spPr/>
        <p:txBody>
          <a:bodyPr>
            <a:normAutofit fontScale="92500" lnSpcReduction="20000"/>
          </a:bodyPr>
          <a:lstStyle/>
          <a:p>
            <a:r>
              <a:rPr sz="2200" dirty="0">
                <a:solidFill>
                  <a:srgbClr val="00E5FF"/>
                </a:solidFill>
                <a:latin typeface="Poppins"/>
              </a:rPr>
              <a:t>MAE = (1/n) Σ |</a:t>
            </a:r>
            <a:r>
              <a:rPr sz="2200" dirty="0" err="1">
                <a:solidFill>
                  <a:srgbClr val="00E5FF"/>
                </a:solidFill>
                <a:latin typeface="Poppins"/>
              </a:rPr>
              <a:t>yi</a:t>
            </a:r>
            <a:r>
              <a:rPr sz="2200" dirty="0">
                <a:solidFill>
                  <a:srgbClr val="00E5FF"/>
                </a:solidFill>
                <a:latin typeface="Poppins"/>
              </a:rPr>
              <a:t> - </a:t>
            </a:r>
            <a:r>
              <a:rPr sz="2200" dirty="0" err="1">
                <a:solidFill>
                  <a:srgbClr val="00E5FF"/>
                </a:solidFill>
                <a:latin typeface="Poppins"/>
              </a:rPr>
              <a:t>ŷi</a:t>
            </a:r>
            <a:r>
              <a:rPr sz="2200" dirty="0">
                <a:solidFill>
                  <a:srgbClr val="00E5FF"/>
                </a:solidFill>
                <a:latin typeface="Poppins"/>
              </a:rPr>
              <a:t>|</a:t>
            </a:r>
            <a:endParaRPr lang="en-US" sz="2200" dirty="0">
              <a:solidFill>
                <a:srgbClr val="00E5FF"/>
              </a:solidFill>
              <a:latin typeface="Poppins"/>
            </a:endParaRPr>
          </a:p>
          <a:p>
            <a:endParaRPr lang="en-US" sz="2200" dirty="0">
              <a:solidFill>
                <a:srgbClr val="00E5FF"/>
              </a:solidFill>
              <a:latin typeface="Poppins"/>
            </a:endParaRPr>
          </a:p>
          <a:p>
            <a:r>
              <a:rPr lang="en-US" sz="2200" dirty="0">
                <a:solidFill>
                  <a:srgbClr val="00E5FF"/>
                </a:solidFill>
                <a:latin typeface="Poppins"/>
              </a:rPr>
              <a:t>Concept: MAE measures the average of the absolute differences between the actual and predicted values.</a:t>
            </a:r>
          </a:p>
          <a:p>
            <a:r>
              <a:rPr lang="en-US" sz="2200" b="1" dirty="0">
                <a:solidFill>
                  <a:srgbClr val="00E5FF"/>
                </a:solidFill>
                <a:latin typeface="Poppins"/>
              </a:rPr>
              <a:t>Advantages</a:t>
            </a:r>
            <a:r>
              <a:rPr lang="en-US" sz="2200" dirty="0">
                <a:solidFill>
                  <a:srgbClr val="00E5FF"/>
                </a:solidFill>
                <a:latin typeface="Poppins"/>
              </a:rPr>
              <a:t>:</a:t>
            </a:r>
          </a:p>
          <a:p>
            <a:r>
              <a:rPr lang="en-US" sz="2200" dirty="0">
                <a:solidFill>
                  <a:srgbClr val="00E5FF"/>
                </a:solidFill>
                <a:latin typeface="Poppins"/>
              </a:rPr>
              <a:t>The output is in the same unit as the target variable (e.g., if predicting salary in LPAs, MAE will also be in LPAs). It is more robust to outliers compared to MSE</a:t>
            </a:r>
            <a:endParaRPr sz="2200" dirty="0">
              <a:solidFill>
                <a:srgbClr val="00E5FF"/>
              </a:solidFill>
              <a:latin typeface="Poppins"/>
            </a:endParaRPr>
          </a:p>
          <a:p>
            <a:r>
              <a:rPr sz="2200" dirty="0">
                <a:solidFill>
                  <a:srgbClr val="00E5FF"/>
                </a:solidFill>
                <a:latin typeface="Poppins"/>
              </a:rPr>
              <a:t>Average absolute error</a:t>
            </a:r>
          </a:p>
          <a:p>
            <a:r>
              <a:rPr sz="2200" dirty="0">
                <a:solidFill>
                  <a:srgbClr val="00E5FF"/>
                </a:solidFill>
                <a:latin typeface="Poppins"/>
              </a:rPr>
              <a:t>Same unit as target</a:t>
            </a:r>
            <a:endParaRPr lang="en-US" sz="2200" dirty="0">
              <a:solidFill>
                <a:srgbClr val="00E5FF"/>
              </a:solidFill>
              <a:latin typeface="Poppins"/>
            </a:endParaRPr>
          </a:p>
          <a:p>
            <a:r>
              <a:rPr lang="en-US" sz="2200" dirty="0">
                <a:solidFill>
                  <a:srgbClr val="00E5FF"/>
                </a:solidFill>
                <a:latin typeface="Poppins"/>
              </a:rPr>
              <a:t>Robust to outliers</a:t>
            </a:r>
          </a:p>
          <a:p>
            <a:r>
              <a:rPr lang="en-US" sz="2200" b="1" dirty="0">
                <a:solidFill>
                  <a:srgbClr val="00E5FF"/>
                </a:solidFill>
                <a:latin typeface="Poppins"/>
              </a:rPr>
              <a:t>Disadvantage:</a:t>
            </a:r>
          </a:p>
          <a:p>
            <a:r>
              <a:rPr lang="en-US" sz="2200" dirty="0">
                <a:solidFill>
                  <a:srgbClr val="00E5FF"/>
                </a:solidFill>
                <a:latin typeface="Poppins"/>
              </a:rPr>
              <a:t>The absolute function is not differentiable at zero, which can be problematic for certain optimization algorithms like Gradient Descent.</a:t>
            </a:r>
            <a:endParaRPr sz="2200" dirty="0">
              <a:solidFill>
                <a:srgbClr val="00E5FF"/>
              </a:solidFill>
              <a:latin typeface="Poppins"/>
            </a:endParaRPr>
          </a:p>
        </p:txBody>
      </p:sp>
      <p:pic>
        <p:nvPicPr>
          <p:cNvPr id="6" name="Picture 5" descr="A black and white math equation&#10;&#10;AI-generated content may be incorrect.">
            <a:extLst>
              <a:ext uri="{FF2B5EF4-FFF2-40B4-BE49-F238E27FC236}">
                <a16:creationId xmlns:a16="http://schemas.microsoft.com/office/drawing/2014/main" id="{FCCD052C-AF21-B3C8-66AB-599518CF0F4C}"/>
              </a:ext>
            </a:extLst>
          </p:cNvPr>
          <p:cNvPicPr>
            <a:picLocks noChangeAspect="1"/>
          </p:cNvPicPr>
          <p:nvPr/>
        </p:nvPicPr>
        <p:blipFill>
          <a:blip r:embed="rId2"/>
          <a:stretch>
            <a:fillRect/>
          </a:stretch>
        </p:blipFill>
        <p:spPr>
          <a:xfrm>
            <a:off x="3613631" y="1588561"/>
            <a:ext cx="2720576" cy="396274"/>
          </a:xfrm>
          <a:prstGeom prst="rect">
            <a:avLst/>
          </a:prstGeom>
        </p:spPr>
      </p:pic>
      <p:pic>
        <p:nvPicPr>
          <p:cNvPr id="8" name="Picture 7" descr="A diagram of a line&#10;&#10;AI-generated content may be incorrect.">
            <a:extLst>
              <a:ext uri="{FF2B5EF4-FFF2-40B4-BE49-F238E27FC236}">
                <a16:creationId xmlns:a16="http://schemas.microsoft.com/office/drawing/2014/main" id="{031637F8-7AAA-3DCB-344E-DD146B79D587}"/>
              </a:ext>
            </a:extLst>
          </p:cNvPr>
          <p:cNvPicPr>
            <a:picLocks noChangeAspect="1"/>
          </p:cNvPicPr>
          <p:nvPr/>
        </p:nvPicPr>
        <p:blipFill>
          <a:blip r:embed="rId3"/>
          <a:stretch>
            <a:fillRect/>
          </a:stretch>
        </p:blipFill>
        <p:spPr>
          <a:xfrm>
            <a:off x="7247093" y="141429"/>
            <a:ext cx="1638442" cy="19813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a:solidFill>
                  <a:srgbClr val="00E5FF"/>
                </a:solidFill>
                <a:latin typeface="Poppins"/>
              </a:rPr>
              <a:t>Mean Squared Error (MSE)</a:t>
            </a:r>
          </a:p>
        </p:txBody>
      </p:sp>
      <p:sp>
        <p:nvSpPr>
          <p:cNvPr id="3" name="Content Placeholder 2"/>
          <p:cNvSpPr>
            <a:spLocks noGrp="1"/>
          </p:cNvSpPr>
          <p:nvPr>
            <p:ph idx="1"/>
          </p:nvPr>
        </p:nvSpPr>
        <p:spPr/>
        <p:txBody>
          <a:bodyPr>
            <a:normAutofit fontScale="92500" lnSpcReduction="10000"/>
          </a:bodyPr>
          <a:lstStyle/>
          <a:p>
            <a:r>
              <a:rPr sz="2200" dirty="0">
                <a:solidFill>
                  <a:srgbClr val="00E5FF"/>
                </a:solidFill>
                <a:latin typeface="Poppins"/>
              </a:rPr>
              <a:t>MSE = (1/n) Σ (</a:t>
            </a:r>
            <a:r>
              <a:rPr sz="2200" dirty="0" err="1">
                <a:solidFill>
                  <a:srgbClr val="00E5FF"/>
                </a:solidFill>
                <a:latin typeface="Poppins"/>
              </a:rPr>
              <a:t>yi</a:t>
            </a:r>
            <a:r>
              <a:rPr sz="2200" dirty="0">
                <a:solidFill>
                  <a:srgbClr val="00E5FF"/>
                </a:solidFill>
                <a:latin typeface="Poppins"/>
              </a:rPr>
              <a:t> - </a:t>
            </a:r>
            <a:r>
              <a:rPr sz="2200" dirty="0" err="1">
                <a:solidFill>
                  <a:srgbClr val="00E5FF"/>
                </a:solidFill>
                <a:latin typeface="Poppins"/>
              </a:rPr>
              <a:t>ŷi</a:t>
            </a:r>
            <a:r>
              <a:rPr sz="2200" dirty="0">
                <a:solidFill>
                  <a:srgbClr val="00E5FF"/>
                </a:solidFill>
                <a:latin typeface="Poppins"/>
              </a:rPr>
              <a:t>)^2</a:t>
            </a:r>
            <a:endParaRPr lang="en-US" sz="2200" dirty="0">
              <a:solidFill>
                <a:srgbClr val="00E5FF"/>
              </a:solidFill>
              <a:latin typeface="Poppins"/>
            </a:endParaRPr>
          </a:p>
          <a:p>
            <a:r>
              <a:rPr lang="en-US" sz="2200" b="1" dirty="0">
                <a:solidFill>
                  <a:srgbClr val="00E5FF"/>
                </a:solidFill>
                <a:latin typeface="Poppins"/>
              </a:rPr>
              <a:t>Concept: </a:t>
            </a:r>
          </a:p>
          <a:p>
            <a:r>
              <a:rPr lang="en-US" sz="2200" dirty="0">
                <a:solidFill>
                  <a:srgbClr val="00E5FF"/>
                </a:solidFill>
                <a:latin typeface="Poppins"/>
              </a:rPr>
              <a:t>MSE calculates the average of the squared differences between actual and predicted values.</a:t>
            </a:r>
          </a:p>
          <a:p>
            <a:r>
              <a:rPr lang="en-US" sz="2200" b="1" dirty="0">
                <a:solidFill>
                  <a:srgbClr val="00E5FF"/>
                </a:solidFill>
                <a:latin typeface="Poppins"/>
              </a:rPr>
              <a:t>Advantage:</a:t>
            </a:r>
          </a:p>
          <a:p>
            <a:r>
              <a:rPr lang="en-US" sz="2200" b="1" dirty="0">
                <a:solidFill>
                  <a:srgbClr val="00E5FF"/>
                </a:solidFill>
                <a:latin typeface="Poppins"/>
              </a:rPr>
              <a:t> </a:t>
            </a:r>
            <a:r>
              <a:rPr lang="en-US" sz="2200" dirty="0">
                <a:solidFill>
                  <a:srgbClr val="00E5FF"/>
                </a:solidFill>
                <a:latin typeface="Poppins"/>
              </a:rPr>
              <a:t>It is widely used as a loss function because it is differentiable everywhere, making it ideal for optimization.</a:t>
            </a:r>
            <a:endParaRPr sz="2200" dirty="0">
              <a:solidFill>
                <a:srgbClr val="00E5FF"/>
              </a:solidFill>
              <a:latin typeface="Poppins"/>
            </a:endParaRPr>
          </a:p>
          <a:p>
            <a:r>
              <a:rPr sz="2200" dirty="0">
                <a:solidFill>
                  <a:srgbClr val="00E5FF"/>
                </a:solidFill>
                <a:latin typeface="Poppins"/>
              </a:rPr>
              <a:t>Squares error</a:t>
            </a:r>
            <a:endParaRPr lang="en-US" sz="2200" dirty="0">
              <a:solidFill>
                <a:srgbClr val="00E5FF"/>
              </a:solidFill>
              <a:latin typeface="Poppins"/>
            </a:endParaRPr>
          </a:p>
          <a:p>
            <a:r>
              <a:rPr lang="en-US" sz="2200" b="1" dirty="0">
                <a:solidFill>
                  <a:srgbClr val="00E5FF"/>
                </a:solidFill>
                <a:latin typeface="Poppins"/>
              </a:rPr>
              <a:t>Disadvantage: </a:t>
            </a:r>
          </a:p>
          <a:p>
            <a:r>
              <a:rPr lang="en-US" sz="2200" dirty="0">
                <a:solidFill>
                  <a:srgbClr val="00E5FF"/>
                </a:solidFill>
                <a:latin typeface="Poppins"/>
              </a:rPr>
              <a:t>The units are squared (e.g., $LPA^2$), making it hard to interpret directly. It also heavily penalizes outliers due to the squaring effect.</a:t>
            </a:r>
            <a:endParaRPr sz="2200" dirty="0">
              <a:solidFill>
                <a:srgbClr val="00E5FF"/>
              </a:solidFill>
              <a:latin typeface="Poppins"/>
            </a:endParaRPr>
          </a:p>
          <a:p>
            <a:r>
              <a:rPr sz="2200" dirty="0">
                <a:solidFill>
                  <a:srgbClr val="00E5FF"/>
                </a:solidFill>
                <a:latin typeface="Poppins"/>
              </a:rPr>
              <a:t>Penalizes large errors</a:t>
            </a:r>
          </a:p>
          <a:p>
            <a:r>
              <a:rPr sz="2200" dirty="0">
                <a:solidFill>
                  <a:srgbClr val="00E5FF"/>
                </a:solidFill>
                <a:latin typeface="Poppins"/>
              </a:rPr>
              <a:t>Sensitive to outliers</a:t>
            </a:r>
          </a:p>
        </p:txBody>
      </p:sp>
      <p:pic>
        <p:nvPicPr>
          <p:cNvPr id="6" name="Picture 5">
            <a:extLst>
              <a:ext uri="{FF2B5EF4-FFF2-40B4-BE49-F238E27FC236}">
                <a16:creationId xmlns:a16="http://schemas.microsoft.com/office/drawing/2014/main" id="{F4467FC0-9F0D-77A6-45FC-8078DCD013D9}"/>
              </a:ext>
            </a:extLst>
          </p:cNvPr>
          <p:cNvPicPr>
            <a:picLocks noChangeAspect="1"/>
          </p:cNvPicPr>
          <p:nvPr/>
        </p:nvPicPr>
        <p:blipFill>
          <a:blip r:embed="rId2"/>
          <a:stretch>
            <a:fillRect/>
          </a:stretch>
        </p:blipFill>
        <p:spPr>
          <a:xfrm>
            <a:off x="4183260" y="1610352"/>
            <a:ext cx="2758679" cy="350550"/>
          </a:xfrm>
          <a:prstGeom prst="rect">
            <a:avLst/>
          </a:prstGeom>
        </p:spPr>
      </p:pic>
      <p:pic>
        <p:nvPicPr>
          <p:cNvPr id="8" name="Picture 7" descr="A graph on a blackboard&#10;&#10;AI-generated content may be incorrect.">
            <a:extLst>
              <a:ext uri="{FF2B5EF4-FFF2-40B4-BE49-F238E27FC236}">
                <a16:creationId xmlns:a16="http://schemas.microsoft.com/office/drawing/2014/main" id="{DFF5EE37-69FB-4F4A-007A-E1338B94017A}"/>
              </a:ext>
            </a:extLst>
          </p:cNvPr>
          <p:cNvPicPr>
            <a:picLocks noChangeAspect="1"/>
          </p:cNvPicPr>
          <p:nvPr/>
        </p:nvPicPr>
        <p:blipFill>
          <a:blip r:embed="rId3"/>
          <a:stretch>
            <a:fillRect/>
          </a:stretch>
        </p:blipFill>
        <p:spPr>
          <a:xfrm>
            <a:off x="7064829" y="1"/>
            <a:ext cx="2079171" cy="18722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a:solidFill>
                  <a:srgbClr val="00E5FF"/>
                </a:solidFill>
                <a:latin typeface="Poppins"/>
              </a:rPr>
              <a:t>Root Mean Squared Error (RMSE)</a:t>
            </a:r>
          </a:p>
        </p:txBody>
      </p:sp>
      <p:sp>
        <p:nvSpPr>
          <p:cNvPr id="3" name="Content Placeholder 2"/>
          <p:cNvSpPr>
            <a:spLocks noGrp="1"/>
          </p:cNvSpPr>
          <p:nvPr>
            <p:ph idx="1"/>
          </p:nvPr>
        </p:nvSpPr>
        <p:spPr/>
        <p:txBody>
          <a:bodyPr>
            <a:normAutofit lnSpcReduction="10000"/>
          </a:bodyPr>
          <a:lstStyle/>
          <a:p>
            <a:r>
              <a:rPr sz="2200" dirty="0">
                <a:solidFill>
                  <a:srgbClr val="00E5FF"/>
                </a:solidFill>
                <a:latin typeface="Poppins"/>
              </a:rPr>
              <a:t>RMSE = sqrt(MSE)</a:t>
            </a:r>
            <a:endParaRPr lang="en-US" sz="2200" dirty="0">
              <a:solidFill>
                <a:srgbClr val="00E5FF"/>
              </a:solidFill>
              <a:latin typeface="Poppins"/>
            </a:endParaRPr>
          </a:p>
          <a:p>
            <a:r>
              <a:rPr lang="en-US" sz="2200" b="1" dirty="0">
                <a:solidFill>
                  <a:srgbClr val="00E5FF"/>
                </a:solidFill>
                <a:latin typeface="Poppins"/>
              </a:rPr>
              <a:t>Concept: </a:t>
            </a:r>
          </a:p>
          <a:p>
            <a:r>
              <a:rPr lang="en-US" sz="2200" dirty="0">
                <a:solidFill>
                  <a:srgbClr val="00E5FF"/>
                </a:solidFill>
                <a:latin typeface="Poppins"/>
              </a:rPr>
              <a:t>RMSE is simply the square root of the MSE.</a:t>
            </a:r>
          </a:p>
          <a:p>
            <a:r>
              <a:rPr lang="en-US" sz="2200" b="1" dirty="0">
                <a:solidFill>
                  <a:srgbClr val="00E5FF"/>
                </a:solidFill>
                <a:latin typeface="Poppins"/>
              </a:rPr>
              <a:t>Advantage:</a:t>
            </a:r>
          </a:p>
          <a:p>
            <a:r>
              <a:rPr lang="en-US" sz="2200" dirty="0">
                <a:solidFill>
                  <a:srgbClr val="00E5FF"/>
                </a:solidFill>
                <a:latin typeface="Poppins"/>
              </a:rPr>
              <a:t>It brings the error back to the original units of the target variable, making interpretation easier while retaining the differentiability benefits of MSE.</a:t>
            </a:r>
            <a:endParaRPr sz="2200" dirty="0">
              <a:solidFill>
                <a:srgbClr val="00E5FF"/>
              </a:solidFill>
              <a:latin typeface="Poppins"/>
            </a:endParaRPr>
          </a:p>
          <a:p>
            <a:r>
              <a:rPr sz="2200" dirty="0">
                <a:solidFill>
                  <a:srgbClr val="00E5FF"/>
                </a:solidFill>
                <a:latin typeface="Poppins"/>
              </a:rPr>
              <a:t>Same unit as target</a:t>
            </a:r>
          </a:p>
          <a:p>
            <a:r>
              <a:rPr sz="2200" dirty="0">
                <a:solidFill>
                  <a:srgbClr val="00E5FF"/>
                </a:solidFill>
                <a:latin typeface="Poppins"/>
              </a:rPr>
              <a:t>Better interpretability</a:t>
            </a:r>
            <a:endParaRPr lang="en-US" sz="2200" dirty="0">
              <a:solidFill>
                <a:srgbClr val="00E5FF"/>
              </a:solidFill>
              <a:latin typeface="Poppins"/>
            </a:endParaRPr>
          </a:p>
          <a:p>
            <a:r>
              <a:rPr lang="en-US" sz="2200" b="1" dirty="0">
                <a:solidFill>
                  <a:srgbClr val="00E5FF"/>
                </a:solidFill>
                <a:latin typeface="Poppins"/>
              </a:rPr>
              <a:t>Disadvantage: </a:t>
            </a:r>
          </a:p>
          <a:p>
            <a:r>
              <a:rPr lang="en-US" sz="2200" dirty="0">
                <a:solidFill>
                  <a:srgbClr val="00E5FF"/>
                </a:solidFill>
                <a:latin typeface="Poppins"/>
              </a:rPr>
              <a:t>Like MSE, it is still sensitive to outliers.</a:t>
            </a:r>
            <a:endParaRPr sz="2200" dirty="0">
              <a:solidFill>
                <a:srgbClr val="00E5FF"/>
              </a:solidFill>
              <a:latin typeface="Poppins"/>
            </a:endParaRPr>
          </a:p>
          <a:p>
            <a:r>
              <a:rPr sz="2200" dirty="0">
                <a:solidFill>
                  <a:srgbClr val="00E5FF"/>
                </a:solidFill>
                <a:latin typeface="Poppins"/>
              </a:rPr>
              <a:t>Still sensitive to outliers</a:t>
            </a:r>
          </a:p>
        </p:txBody>
      </p:sp>
      <p:pic>
        <p:nvPicPr>
          <p:cNvPr id="6" name="Picture 5">
            <a:extLst>
              <a:ext uri="{FF2B5EF4-FFF2-40B4-BE49-F238E27FC236}">
                <a16:creationId xmlns:a16="http://schemas.microsoft.com/office/drawing/2014/main" id="{E78EBB06-47F2-4ECE-CF37-A7730EDF0112}"/>
              </a:ext>
            </a:extLst>
          </p:cNvPr>
          <p:cNvPicPr>
            <a:picLocks noChangeAspect="1"/>
          </p:cNvPicPr>
          <p:nvPr/>
        </p:nvPicPr>
        <p:blipFill>
          <a:blip r:embed="rId2"/>
          <a:stretch>
            <a:fillRect/>
          </a:stretch>
        </p:blipFill>
        <p:spPr>
          <a:xfrm>
            <a:off x="3463193" y="1600200"/>
            <a:ext cx="3057349" cy="3581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dirty="0">
                <a:solidFill>
                  <a:srgbClr val="00E5FF"/>
                </a:solidFill>
                <a:latin typeface="Poppins"/>
              </a:rPr>
              <a:t>R² Score</a:t>
            </a:r>
          </a:p>
        </p:txBody>
      </p:sp>
      <p:sp>
        <p:nvSpPr>
          <p:cNvPr id="3" name="Content Placeholder 2"/>
          <p:cNvSpPr>
            <a:spLocks noGrp="1"/>
          </p:cNvSpPr>
          <p:nvPr>
            <p:ph idx="1"/>
          </p:nvPr>
        </p:nvSpPr>
        <p:spPr/>
        <p:txBody>
          <a:bodyPr>
            <a:normAutofit fontScale="85000" lnSpcReduction="20000"/>
          </a:bodyPr>
          <a:lstStyle/>
          <a:p>
            <a:r>
              <a:rPr sz="2200" dirty="0">
                <a:solidFill>
                  <a:srgbClr val="00E5FF"/>
                </a:solidFill>
                <a:latin typeface="Poppins"/>
              </a:rPr>
              <a:t>R² = 1 - (</a:t>
            </a:r>
            <a:r>
              <a:rPr sz="2200" dirty="0" err="1">
                <a:solidFill>
                  <a:srgbClr val="00E5FF"/>
                </a:solidFill>
                <a:latin typeface="Poppins"/>
              </a:rPr>
              <a:t>SSre</a:t>
            </a:r>
            <a:r>
              <a:rPr lang="en-US" sz="2200" dirty="0" err="1">
                <a:solidFill>
                  <a:srgbClr val="00E5FF"/>
                </a:solidFill>
                <a:latin typeface="Poppins"/>
              </a:rPr>
              <a:t>s</a:t>
            </a:r>
            <a:r>
              <a:rPr sz="2200" dirty="0">
                <a:solidFill>
                  <a:srgbClr val="00E5FF"/>
                </a:solidFill>
                <a:latin typeface="Poppins"/>
              </a:rPr>
              <a:t> / </a:t>
            </a:r>
            <a:r>
              <a:rPr sz="2200" dirty="0" err="1">
                <a:solidFill>
                  <a:srgbClr val="00E5FF"/>
                </a:solidFill>
                <a:latin typeface="Poppins"/>
              </a:rPr>
              <a:t>SS</a:t>
            </a:r>
            <a:r>
              <a:rPr lang="en-US" sz="2200" dirty="0" err="1">
                <a:solidFill>
                  <a:srgbClr val="00E5FF"/>
                </a:solidFill>
                <a:latin typeface="Poppins"/>
              </a:rPr>
              <a:t>tot</a:t>
            </a:r>
            <a:r>
              <a:rPr sz="2200" dirty="0">
                <a:solidFill>
                  <a:srgbClr val="00E5FF"/>
                </a:solidFill>
                <a:latin typeface="Poppins"/>
              </a:rPr>
              <a:t>)</a:t>
            </a:r>
            <a:endParaRPr lang="en-US" sz="2200" dirty="0">
              <a:solidFill>
                <a:srgbClr val="00E5FF"/>
              </a:solidFill>
              <a:latin typeface="Poppins"/>
            </a:endParaRPr>
          </a:p>
          <a:p>
            <a:r>
              <a:rPr lang="en-US" sz="2200" dirty="0">
                <a:solidFill>
                  <a:srgbClr val="00E5FF"/>
                </a:solidFill>
                <a:latin typeface="Poppins"/>
              </a:rPr>
              <a:t>SS{res} is the sum of squares of residuals (errors from your model).</a:t>
            </a:r>
          </a:p>
          <a:p>
            <a:r>
              <a:rPr lang="en-US" sz="2200" dirty="0">
                <a:solidFill>
                  <a:srgbClr val="00E5FF"/>
                </a:solidFill>
                <a:latin typeface="Poppins"/>
              </a:rPr>
              <a:t>SS{tot} is the total sum of squares (errors from the mean line).</a:t>
            </a:r>
          </a:p>
          <a:p>
            <a:r>
              <a:rPr lang="en-US" sz="2200" b="1" dirty="0">
                <a:solidFill>
                  <a:srgbClr val="00E5FF"/>
                </a:solidFill>
                <a:latin typeface="Poppins"/>
              </a:rPr>
              <a:t>Concept: (Goodness of fit, Coefficient of Depth)</a:t>
            </a:r>
          </a:p>
          <a:p>
            <a:r>
              <a:rPr lang="en-US" sz="2200" dirty="0">
                <a:solidFill>
                  <a:srgbClr val="00E5FF"/>
                </a:solidFill>
                <a:latin typeface="Poppins"/>
              </a:rPr>
              <a:t>It represents the proportion of the variance in the dependent variable that is predictable from the independent variables. It compares your model to a simple "mean line" model.</a:t>
            </a:r>
          </a:p>
          <a:p>
            <a:r>
              <a:rPr lang="en-US" sz="2200" dirty="0">
                <a:solidFill>
                  <a:srgbClr val="00E5FF"/>
                </a:solidFill>
                <a:latin typeface="Poppins"/>
              </a:rPr>
              <a:t>Interpretation:</a:t>
            </a:r>
          </a:p>
          <a:p>
            <a:r>
              <a:rPr lang="en-US" sz="2200" dirty="0">
                <a:solidFill>
                  <a:srgbClr val="00E5FF"/>
                </a:solidFill>
                <a:latin typeface="Poppins"/>
              </a:rPr>
              <a:t>0: Model is as good as the mean line. </a:t>
            </a:r>
          </a:p>
          <a:p>
            <a:r>
              <a:rPr lang="en-US" sz="2200" dirty="0">
                <a:solidFill>
                  <a:srgbClr val="00E5FF"/>
                </a:solidFill>
                <a:latin typeface="Poppins"/>
              </a:rPr>
              <a:t>1: Perfect model with zero error. </a:t>
            </a:r>
          </a:p>
          <a:p>
            <a:r>
              <a:rPr lang="en-US" sz="2200" dirty="0">
                <a:solidFill>
                  <a:srgbClr val="00E5FF"/>
                </a:solidFill>
                <a:latin typeface="Poppins"/>
              </a:rPr>
              <a:t>Negative: Model is worse than the mean line.</a:t>
            </a:r>
            <a:endParaRPr sz="2200" dirty="0">
              <a:solidFill>
                <a:srgbClr val="00E5FF"/>
              </a:solidFill>
              <a:latin typeface="Poppins"/>
            </a:endParaRPr>
          </a:p>
          <a:p>
            <a:r>
              <a:rPr sz="2200" dirty="0">
                <a:solidFill>
                  <a:srgbClr val="00E5FF"/>
                </a:solidFill>
                <a:latin typeface="Poppins"/>
              </a:rPr>
              <a:t>Variance explained</a:t>
            </a:r>
          </a:p>
          <a:p>
            <a:r>
              <a:rPr sz="2200" dirty="0">
                <a:solidFill>
                  <a:srgbClr val="00E5FF"/>
                </a:solidFill>
                <a:latin typeface="Poppins"/>
              </a:rPr>
              <a:t>1 = perfect</a:t>
            </a:r>
          </a:p>
          <a:p>
            <a:r>
              <a:rPr sz="2200" dirty="0">
                <a:solidFill>
                  <a:srgbClr val="00E5FF"/>
                </a:solidFill>
                <a:latin typeface="Poppins"/>
              </a:rPr>
              <a:t>0 = mean model</a:t>
            </a:r>
          </a:p>
        </p:txBody>
      </p:sp>
      <p:pic>
        <p:nvPicPr>
          <p:cNvPr id="5" name="Picture 4" descr="A graph on a blackboard&#10;&#10;AI-generated content may be incorrect.">
            <a:extLst>
              <a:ext uri="{FF2B5EF4-FFF2-40B4-BE49-F238E27FC236}">
                <a16:creationId xmlns:a16="http://schemas.microsoft.com/office/drawing/2014/main" id="{F67FBAB0-0587-860C-7553-9700366122AB}"/>
              </a:ext>
            </a:extLst>
          </p:cNvPr>
          <p:cNvPicPr>
            <a:picLocks noChangeAspect="1"/>
          </p:cNvPicPr>
          <p:nvPr/>
        </p:nvPicPr>
        <p:blipFill>
          <a:blip r:embed="rId2"/>
          <a:stretch>
            <a:fillRect/>
          </a:stretch>
        </p:blipFill>
        <p:spPr>
          <a:xfrm>
            <a:off x="6400800" y="0"/>
            <a:ext cx="2743200" cy="1955740"/>
          </a:xfrm>
          <a:prstGeom prst="rect">
            <a:avLst/>
          </a:prstGeom>
        </p:spPr>
      </p:pic>
      <p:pic>
        <p:nvPicPr>
          <p:cNvPr id="7" name="Picture 6">
            <a:extLst>
              <a:ext uri="{FF2B5EF4-FFF2-40B4-BE49-F238E27FC236}">
                <a16:creationId xmlns:a16="http://schemas.microsoft.com/office/drawing/2014/main" id="{604FF8BF-89F4-954B-F9C4-50D7E6861F25}"/>
              </a:ext>
            </a:extLst>
          </p:cNvPr>
          <p:cNvPicPr>
            <a:picLocks noChangeAspect="1"/>
          </p:cNvPicPr>
          <p:nvPr/>
        </p:nvPicPr>
        <p:blipFill>
          <a:blip r:embed="rId3"/>
          <a:stretch>
            <a:fillRect/>
          </a:stretch>
        </p:blipFill>
        <p:spPr>
          <a:xfrm>
            <a:off x="4023194" y="1589948"/>
            <a:ext cx="1920406" cy="365792"/>
          </a:xfrm>
          <a:prstGeom prst="rect">
            <a:avLst/>
          </a:prstGeom>
        </p:spPr>
      </p:pic>
      <p:pic>
        <p:nvPicPr>
          <p:cNvPr id="9" name="Picture 8" descr="A blackboard with white text&#10;&#10;AI-generated content may be incorrect.">
            <a:extLst>
              <a:ext uri="{FF2B5EF4-FFF2-40B4-BE49-F238E27FC236}">
                <a16:creationId xmlns:a16="http://schemas.microsoft.com/office/drawing/2014/main" id="{6746EC7C-1AEB-9951-18A1-AB7A979617D5}"/>
              </a:ext>
            </a:extLst>
          </p:cNvPr>
          <p:cNvPicPr>
            <a:picLocks noChangeAspect="1"/>
          </p:cNvPicPr>
          <p:nvPr/>
        </p:nvPicPr>
        <p:blipFill>
          <a:blip r:embed="rId4"/>
          <a:stretch>
            <a:fillRect/>
          </a:stretch>
        </p:blipFill>
        <p:spPr>
          <a:xfrm>
            <a:off x="457200" y="228648"/>
            <a:ext cx="1714649" cy="12802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board with white text&#10;&#10;AI-generated content may be incorrect.">
            <a:extLst>
              <a:ext uri="{FF2B5EF4-FFF2-40B4-BE49-F238E27FC236}">
                <a16:creationId xmlns:a16="http://schemas.microsoft.com/office/drawing/2014/main" id="{C9E74DAC-5AD7-2CC0-AD6F-C202BC59F377}"/>
              </a:ext>
            </a:extLst>
          </p:cNvPr>
          <p:cNvPicPr>
            <a:picLocks noChangeAspect="1"/>
          </p:cNvPicPr>
          <p:nvPr/>
        </p:nvPicPr>
        <p:blipFill>
          <a:blip r:embed="rId2"/>
          <a:stretch>
            <a:fillRect/>
          </a:stretch>
        </p:blipFill>
        <p:spPr>
          <a:xfrm>
            <a:off x="1897148" y="2430693"/>
            <a:ext cx="5349704" cy="1996613"/>
          </a:xfrm>
          <a:prstGeom prst="rect">
            <a:avLst/>
          </a:prstGeom>
        </p:spPr>
      </p:pic>
      <p:sp>
        <p:nvSpPr>
          <p:cNvPr id="5" name="TextBox 4">
            <a:extLst>
              <a:ext uri="{FF2B5EF4-FFF2-40B4-BE49-F238E27FC236}">
                <a16:creationId xmlns:a16="http://schemas.microsoft.com/office/drawing/2014/main" id="{DE156A40-FBF4-891C-EFB6-33CA159B4686}"/>
              </a:ext>
            </a:extLst>
          </p:cNvPr>
          <p:cNvSpPr txBox="1"/>
          <p:nvPr/>
        </p:nvSpPr>
        <p:spPr>
          <a:xfrm>
            <a:off x="2155372" y="816429"/>
            <a:ext cx="4103914" cy="369332"/>
          </a:xfrm>
          <a:prstGeom prst="rect">
            <a:avLst/>
          </a:prstGeom>
          <a:noFill/>
        </p:spPr>
        <p:txBody>
          <a:bodyPr wrap="square" rtlCol="0">
            <a:spAutoFit/>
          </a:bodyPr>
          <a:lstStyle/>
          <a:p>
            <a:r>
              <a:rPr lang="en-US" dirty="0"/>
              <a:t>Explain the outlier or read the scatter plot</a:t>
            </a:r>
            <a:endParaRPr lang="en-PK" dirty="0"/>
          </a:p>
        </p:txBody>
      </p:sp>
    </p:spTree>
    <p:extLst>
      <p:ext uri="{BB962C8B-B14F-4D97-AF65-F5344CB8AC3E}">
        <p14:creationId xmlns:p14="http://schemas.microsoft.com/office/powerpoint/2010/main" val="3252526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a:solidFill>
                  <a:srgbClr val="00E5FF"/>
                </a:solidFill>
                <a:latin typeface="Poppins"/>
              </a:rPr>
              <a:t>Adjusted R²</a:t>
            </a:r>
          </a:p>
        </p:txBody>
      </p:sp>
      <p:sp>
        <p:nvSpPr>
          <p:cNvPr id="3" name="Content Placeholder 2"/>
          <p:cNvSpPr>
            <a:spLocks noGrp="1"/>
          </p:cNvSpPr>
          <p:nvPr>
            <p:ph idx="1"/>
          </p:nvPr>
        </p:nvSpPr>
        <p:spPr/>
        <p:txBody>
          <a:bodyPr>
            <a:normAutofit lnSpcReduction="10000"/>
          </a:bodyPr>
          <a:lstStyle/>
          <a:p>
            <a:r>
              <a:rPr sz="2200" dirty="0">
                <a:solidFill>
                  <a:srgbClr val="00E5FF"/>
                </a:solidFill>
                <a:latin typeface="Poppins"/>
              </a:rPr>
              <a:t>Adj R² = 1 - ((1-R²)(n-1)/(n-k-1))</a:t>
            </a:r>
            <a:endParaRPr lang="en-US" sz="2200" dirty="0">
              <a:solidFill>
                <a:srgbClr val="00E5FF"/>
              </a:solidFill>
              <a:latin typeface="Poppins"/>
            </a:endParaRPr>
          </a:p>
          <a:p>
            <a:r>
              <a:rPr lang="en-US" sz="2200" dirty="0">
                <a:solidFill>
                  <a:srgbClr val="00E5FF"/>
                </a:solidFill>
                <a:latin typeface="Poppins"/>
              </a:rPr>
              <a:t>n: Number of data points.</a:t>
            </a:r>
          </a:p>
          <a:p>
            <a:r>
              <a:rPr lang="en-US" sz="2200" dirty="0">
                <a:solidFill>
                  <a:srgbClr val="00E5FF"/>
                </a:solidFill>
                <a:latin typeface="Poppins"/>
              </a:rPr>
              <a:t>k: Number of independent variables.</a:t>
            </a:r>
          </a:p>
          <a:p>
            <a:r>
              <a:rPr lang="en-US" sz="2200" dirty="0">
                <a:solidFill>
                  <a:srgbClr val="00E5FF"/>
                </a:solidFill>
                <a:latin typeface="Poppins"/>
              </a:rPr>
              <a:t>Problem with R²:</a:t>
            </a:r>
          </a:p>
          <a:p>
            <a:r>
              <a:rPr lang="en-US" sz="2200" dirty="0">
                <a:solidFill>
                  <a:srgbClr val="00E5FF"/>
                </a:solidFill>
                <a:latin typeface="Poppins"/>
              </a:rPr>
              <a:t>The R² score never decreases when you add new features, even if they are irrelevant (like adding "outside temperature" to predict "salary")</a:t>
            </a:r>
          </a:p>
          <a:p>
            <a:r>
              <a:rPr lang="en-US" sz="2200" dirty="0">
                <a:solidFill>
                  <a:srgbClr val="00E5FF"/>
                </a:solidFill>
                <a:latin typeface="Poppins"/>
              </a:rPr>
              <a:t>Solution: </a:t>
            </a:r>
          </a:p>
          <a:p>
            <a:r>
              <a:rPr lang="en-US" sz="2200" dirty="0">
                <a:solidFill>
                  <a:srgbClr val="00E5FF"/>
                </a:solidFill>
                <a:latin typeface="Poppins"/>
              </a:rPr>
              <a:t>Adjusted R² penalizes the addition of irrelevant features.</a:t>
            </a:r>
            <a:endParaRPr sz="2200" dirty="0">
              <a:solidFill>
                <a:srgbClr val="00E5FF"/>
              </a:solidFill>
              <a:latin typeface="Poppins"/>
            </a:endParaRPr>
          </a:p>
          <a:p>
            <a:r>
              <a:rPr sz="2200" dirty="0">
                <a:solidFill>
                  <a:srgbClr val="00E5FF"/>
                </a:solidFill>
                <a:latin typeface="Poppins"/>
              </a:rPr>
              <a:t>Penalizes extra features</a:t>
            </a:r>
          </a:p>
          <a:p>
            <a:r>
              <a:rPr sz="2200" dirty="0">
                <a:solidFill>
                  <a:srgbClr val="00E5FF"/>
                </a:solidFill>
                <a:latin typeface="Poppins"/>
              </a:rPr>
              <a:t>Better for multiple regression</a:t>
            </a:r>
          </a:p>
        </p:txBody>
      </p:sp>
      <p:pic>
        <p:nvPicPr>
          <p:cNvPr id="5" name="Picture 4" descr="A black text on a white background&#10;&#10;AI-generated content may be incorrect.">
            <a:extLst>
              <a:ext uri="{FF2B5EF4-FFF2-40B4-BE49-F238E27FC236}">
                <a16:creationId xmlns:a16="http://schemas.microsoft.com/office/drawing/2014/main" id="{51CE8718-DE20-D5AB-61AC-4AC46542BDC5}"/>
              </a:ext>
            </a:extLst>
          </p:cNvPr>
          <p:cNvPicPr>
            <a:picLocks noChangeAspect="1"/>
          </p:cNvPicPr>
          <p:nvPr/>
        </p:nvPicPr>
        <p:blipFill>
          <a:blip r:embed="rId2"/>
          <a:stretch>
            <a:fillRect/>
          </a:stretch>
        </p:blipFill>
        <p:spPr>
          <a:xfrm>
            <a:off x="5331154" y="1600200"/>
            <a:ext cx="3203245" cy="464860"/>
          </a:xfrm>
          <a:prstGeom prst="rect">
            <a:avLst/>
          </a:prstGeom>
        </p:spPr>
      </p:pic>
      <p:pic>
        <p:nvPicPr>
          <p:cNvPr id="7" name="Picture 6" descr="A blackboard with white text&#10;&#10;AI-generated content may be incorrect.">
            <a:extLst>
              <a:ext uri="{FF2B5EF4-FFF2-40B4-BE49-F238E27FC236}">
                <a16:creationId xmlns:a16="http://schemas.microsoft.com/office/drawing/2014/main" id="{647779BB-4FF5-D5AD-BE03-041134771AE1}"/>
              </a:ext>
            </a:extLst>
          </p:cNvPr>
          <p:cNvPicPr>
            <a:picLocks noChangeAspect="1"/>
          </p:cNvPicPr>
          <p:nvPr/>
        </p:nvPicPr>
        <p:blipFill>
          <a:blip r:embed="rId3"/>
          <a:stretch>
            <a:fillRect/>
          </a:stretch>
        </p:blipFill>
        <p:spPr>
          <a:xfrm>
            <a:off x="457200" y="343174"/>
            <a:ext cx="1882303" cy="10059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TotalTime>
  <Words>500</Words>
  <Application>Microsoft Office PowerPoint</Application>
  <PresentationFormat>On-screen Show (4:3)</PresentationFormat>
  <Paragraphs>57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Poppins</vt:lpstr>
      <vt:lpstr>Office Theme</vt:lpstr>
      <vt:lpstr>Mean Absolute Error (MAE)</vt:lpstr>
      <vt:lpstr>Mean Squared Error (MSE)</vt:lpstr>
      <vt:lpstr>Root Mean Squared Error (RMSE)</vt:lpstr>
      <vt:lpstr>R² Score</vt:lpstr>
      <vt:lpstr>PowerPoint Presentation</vt:lpstr>
      <vt:lpstr>Adjusted R²</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Syed Uzair Hussain</cp:lastModifiedBy>
  <cp:revision>12</cp:revision>
  <dcterms:created xsi:type="dcterms:W3CDTF">2013-01-27T09:14:16Z</dcterms:created>
  <dcterms:modified xsi:type="dcterms:W3CDTF">2026-04-17T23:15:27Z</dcterms:modified>
  <cp:category/>
</cp:coreProperties>
</file>