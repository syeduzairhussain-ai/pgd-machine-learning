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Complete ML Lecture</a:t>
            </a:r>
          </a:p>
          <a:p>
            <a:r>
              <a:rPr sz="2000"/>
              <a:t>Classification &amp;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What is SVM?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Supervised ML algorithm</a:t>
            </a:r>
          </a:p>
          <a:p>
            <a:r>
              <a:rPr sz="2000"/>
              <a:t>Finds best boundary (hyperplane)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Real Life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Example:</a:t>
            </a:r>
          </a:p>
          <a:p>
            <a:r>
              <a:rPr lang="en-US" sz="2000" dirty="0"/>
              <a:t>Classify emails → Spam vs Not Spam</a:t>
            </a:r>
          </a:p>
          <a:p>
            <a:r>
              <a:rPr lang="en-US" sz="2000" dirty="0"/>
              <a:t>Tumor detection → Cancer vs Non-Cancer</a:t>
            </a:r>
          </a:p>
          <a:p>
            <a:r>
              <a:rPr lang="en-US" sz="2000" dirty="0"/>
              <a:t>SVM draws a line to separate two groups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Hyperplane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Decision boundary</a:t>
            </a:r>
          </a:p>
          <a:p>
            <a:r>
              <a:rPr sz="2000"/>
              <a:t>Line (2D), Plane (3D)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Margin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Margin = distance between boundary and nearest points</a:t>
            </a:r>
          </a:p>
          <a:p>
            <a:r>
              <a:rPr lang="en-US" sz="2000" dirty="0"/>
              <a:t>SVM tries to maximize margin</a:t>
            </a:r>
          </a:p>
          <a:p>
            <a:r>
              <a:rPr lang="en-US" sz="2000" dirty="0"/>
              <a:t> Why?</a:t>
            </a:r>
          </a:p>
          <a:p>
            <a:r>
              <a:rPr lang="en-US" sz="2000" dirty="0"/>
              <a:t>Larger margin = better generalization</a:t>
            </a:r>
          </a:p>
          <a:p>
            <a:r>
              <a:rPr sz="2000" dirty="0"/>
              <a:t>Distance between boundary &amp; points</a:t>
            </a:r>
          </a:p>
          <a:p>
            <a:r>
              <a:rPr sz="2000" dirty="0"/>
              <a:t>Maximize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Support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Closest points</a:t>
            </a:r>
          </a:p>
          <a:p>
            <a:r>
              <a:rPr sz="2000"/>
              <a:t>Define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Goal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Maximize margin</a:t>
            </a:r>
          </a:p>
          <a:p>
            <a:r>
              <a:rPr sz="2000"/>
              <a:t>Better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Hard vs Soft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Hard Margin</a:t>
            </a:r>
          </a:p>
          <a:p>
            <a:r>
              <a:rPr lang="en-US" sz="2000" dirty="0"/>
              <a:t>Perfect separation</a:t>
            </a:r>
          </a:p>
          <a:p>
            <a:r>
              <a:rPr lang="en-US" sz="2000" dirty="0"/>
              <a:t>No errors allowed</a:t>
            </a:r>
          </a:p>
          <a:p>
            <a:r>
              <a:rPr lang="en-US" sz="2000" dirty="0"/>
              <a:t>Soft Margin</a:t>
            </a:r>
          </a:p>
          <a:p>
            <a:r>
              <a:rPr lang="en-US" sz="2000" dirty="0"/>
              <a:t>Allows some errors</a:t>
            </a:r>
          </a:p>
          <a:p>
            <a:r>
              <a:rPr lang="en-US" sz="2000" dirty="0"/>
              <a:t>More realistic</a:t>
            </a:r>
          </a:p>
          <a:p>
            <a:r>
              <a:rPr lang="en-US" sz="2000" dirty="0"/>
              <a:t> Used in real-world noisy data</a:t>
            </a:r>
          </a:p>
          <a:p>
            <a:r>
              <a:rPr sz="2000" dirty="0"/>
              <a:t>Hard: no error</a:t>
            </a:r>
          </a:p>
          <a:p>
            <a:r>
              <a:rPr sz="2000" dirty="0"/>
              <a:t>Soft: allows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Linear vs Non-Linear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Linear: straight line</a:t>
            </a:r>
          </a:p>
          <a:p>
            <a:r>
              <a:rPr sz="2000" dirty="0"/>
              <a:t>Non-linear: curves</a:t>
            </a:r>
            <a:endParaRPr lang="en-US" sz="2000" dirty="0"/>
          </a:p>
          <a:p>
            <a:r>
              <a:rPr lang="en-US" sz="2000" dirty="0"/>
              <a:t>Uses transformation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Kernel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Converts non-linear → linear problem </a:t>
            </a:r>
          </a:p>
          <a:p>
            <a:r>
              <a:rPr lang="en-US" sz="2000" dirty="0"/>
              <a:t>Common kernels:</a:t>
            </a:r>
          </a:p>
          <a:p>
            <a:r>
              <a:rPr lang="en-US" sz="2000" dirty="0"/>
              <a:t>Linear </a:t>
            </a:r>
          </a:p>
          <a:p>
            <a:r>
              <a:rPr lang="en-US" sz="2000" dirty="0"/>
              <a:t>Polynomial </a:t>
            </a:r>
          </a:p>
          <a:p>
            <a:r>
              <a:rPr lang="en-US" sz="2000" dirty="0"/>
              <a:t>RBF (Radial Basis Function) </a:t>
            </a:r>
          </a:p>
          <a:p>
            <a:r>
              <a:rPr lang="en-PK" sz="2000" dirty="0"/>
              <a:t> </a:t>
            </a:r>
            <a:r>
              <a:rPr lang="en-US" sz="2000" dirty="0"/>
              <a:t>Works in higher dimensions</a:t>
            </a:r>
          </a:p>
          <a:p>
            <a:endParaRPr lang="en-US" sz="2000" dirty="0"/>
          </a:p>
          <a:p>
            <a:r>
              <a:rPr sz="2000" dirty="0"/>
              <a:t>Linear, Polynomial, RBF</a:t>
            </a:r>
          </a:p>
          <a:p>
            <a:r>
              <a:rPr sz="2000" dirty="0"/>
              <a:t>Transforms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Working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Plot → Try boundaries → Max margin → Predict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C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Controls error tolerance </a:t>
            </a:r>
          </a:p>
          <a:p>
            <a:r>
              <a:rPr lang="en-US" sz="2000" b="1" dirty="0"/>
              <a:t>Small C</a:t>
            </a:r>
          </a:p>
          <a:p>
            <a:r>
              <a:rPr lang="en-US" sz="2000" dirty="0"/>
              <a:t>More margin </a:t>
            </a:r>
          </a:p>
          <a:p>
            <a:r>
              <a:rPr lang="en-US" sz="2000" dirty="0"/>
              <a:t>More errors </a:t>
            </a:r>
          </a:p>
          <a:p>
            <a:r>
              <a:rPr lang="en-US" sz="2000" b="1" dirty="0"/>
              <a:t>Large C</a:t>
            </a:r>
          </a:p>
          <a:p>
            <a:r>
              <a:rPr lang="en-US" sz="2000" dirty="0"/>
              <a:t>Less margin </a:t>
            </a:r>
          </a:p>
          <a:p>
            <a:r>
              <a:rPr lang="en-US" sz="2000" dirty="0"/>
              <a:t>Less errors </a:t>
            </a:r>
          </a:p>
          <a:p>
            <a:r>
              <a:rPr lang="en-US" sz="2000" dirty="0"/>
              <a:t>Tradeoff: Bias vs Variance</a:t>
            </a:r>
          </a:p>
          <a:p>
            <a:endParaRPr lang="en-US" sz="2000" dirty="0"/>
          </a:p>
          <a:p>
            <a:r>
              <a:rPr sz="2000" dirty="0"/>
              <a:t>Small C: more margin</a:t>
            </a:r>
          </a:p>
          <a:p>
            <a:r>
              <a:rPr sz="2000" dirty="0"/>
              <a:t>Large C: less 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High accuracy</a:t>
            </a:r>
          </a:p>
          <a:p>
            <a:r>
              <a:rPr sz="2000"/>
              <a:t>Works in high dimension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Slow for big data</a:t>
            </a:r>
          </a:p>
          <a:p>
            <a:r>
              <a:rPr sz="2000"/>
              <a:t>Kernel selection hard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from </a:t>
            </a:r>
            <a:r>
              <a:rPr lang="en-US" sz="2000" dirty="0" err="1"/>
              <a:t>sklearn.svm</a:t>
            </a:r>
            <a:r>
              <a:rPr lang="en-US" sz="2000" dirty="0"/>
              <a:t> import SVC</a:t>
            </a:r>
          </a:p>
          <a:p>
            <a:endParaRPr lang="en-US" sz="2000" dirty="0"/>
          </a:p>
          <a:p>
            <a:r>
              <a:rPr lang="en-US" sz="2000" dirty="0"/>
              <a:t>model = SVC(kernel='linear')</a:t>
            </a:r>
          </a:p>
          <a:p>
            <a:r>
              <a:rPr lang="en-US" sz="2000" dirty="0" err="1"/>
              <a:t>model.fit</a:t>
            </a:r>
            <a:r>
              <a:rPr lang="en-US" sz="2000" dirty="0"/>
              <a:t>(</a:t>
            </a:r>
            <a:r>
              <a:rPr lang="en-US" sz="2000" dirty="0" err="1"/>
              <a:t>X_train</a:t>
            </a:r>
            <a:r>
              <a:rPr lang="en-US" sz="2000" dirty="0"/>
              <a:t>, </a:t>
            </a:r>
            <a:r>
              <a:rPr lang="en-US" sz="2000" dirty="0" err="1"/>
              <a:t>y_train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 err="1"/>
              <a:t>y_pred</a:t>
            </a:r>
            <a:r>
              <a:rPr lang="en-US" sz="2000" dirty="0"/>
              <a:t> = </a:t>
            </a:r>
            <a:r>
              <a:rPr lang="en-US" sz="2000" dirty="0" err="1"/>
              <a:t>model.predict</a:t>
            </a:r>
            <a:r>
              <a:rPr lang="en-US" sz="2000" dirty="0"/>
              <a:t>(</a:t>
            </a:r>
            <a:r>
              <a:rPr lang="en-US" sz="2000" dirty="0" err="1"/>
              <a:t>X_test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sz="2000" dirty="0"/>
              <a:t>from </a:t>
            </a:r>
            <a:r>
              <a:rPr sz="2000" dirty="0" err="1"/>
              <a:t>sklearn.svm</a:t>
            </a:r>
            <a:r>
              <a:rPr sz="2000" dirty="0"/>
              <a:t> import SVC</a:t>
            </a:r>
          </a:p>
          <a:p>
            <a:r>
              <a:rPr sz="2000" dirty="0"/>
              <a:t>model = SVC()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Fraud, Face recognition, Healthcare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SVM vs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r>
              <a:rPr sz="2000" dirty="0"/>
              <a:t>SVM: model-based</a:t>
            </a:r>
          </a:p>
          <a:p>
            <a:r>
              <a:rPr sz="2000" dirty="0"/>
              <a:t>KNN: instance-based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242E83-FACE-0A93-6C81-494EE94F745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131661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0965476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4274165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01641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183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Instance-based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43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3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Depends on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387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✔ Hyperplane</a:t>
            </a:r>
            <a:br>
              <a:rPr lang="en-US" sz="2000" dirty="0"/>
            </a:br>
            <a:r>
              <a:rPr lang="en-US" sz="2000" dirty="0"/>
              <a:t>✔ Margin</a:t>
            </a:r>
            <a:br>
              <a:rPr lang="en-US" sz="2000" dirty="0"/>
            </a:br>
            <a:r>
              <a:rPr lang="en-US" sz="2000" dirty="0"/>
              <a:t>✔ Support vectors</a:t>
            </a:r>
            <a:br>
              <a:rPr lang="en-US" sz="2000" dirty="0"/>
            </a:br>
            <a:r>
              <a:rPr lang="en-US" sz="2000" dirty="0"/>
              <a:t>✔ Kernel trick</a:t>
            </a:r>
            <a:br>
              <a:rPr lang="en-US" sz="2000" dirty="0"/>
            </a:br>
            <a:r>
              <a:rPr lang="en-US" sz="2000" dirty="0"/>
              <a:t>✔ C parameter</a:t>
            </a:r>
          </a:p>
          <a:p>
            <a:r>
              <a:rPr sz="2000" dirty="0"/>
              <a:t>Hyperplane, Margin, Kernel,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What is SVM?</a:t>
            </a:r>
          </a:p>
          <a:p>
            <a:r>
              <a:rPr lang="en-US" sz="2000" dirty="0"/>
              <a:t>What is margin?</a:t>
            </a:r>
          </a:p>
          <a:p>
            <a:r>
              <a:rPr lang="en-US" sz="2000" dirty="0"/>
              <a:t>What are support vectors?</a:t>
            </a:r>
          </a:p>
          <a:p>
            <a:r>
              <a:rPr lang="en-US" sz="2000" dirty="0"/>
              <a:t>Difference between kernel </a:t>
            </a:r>
            <a:r>
              <a:rPr lang="en-US" sz="2000"/>
              <a:t>types?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369</Words>
  <Application>Microsoft Office PowerPoint</Application>
  <PresentationFormat>On-screen Show (4:3)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Support Vector Machine (SVM)</vt:lpstr>
      <vt:lpstr>What is SVM?</vt:lpstr>
      <vt:lpstr>Real Life Intuition</vt:lpstr>
      <vt:lpstr>Hyperplane</vt:lpstr>
      <vt:lpstr>Margin Concept</vt:lpstr>
      <vt:lpstr>Support Vectors</vt:lpstr>
      <vt:lpstr>Goal of SVM</vt:lpstr>
      <vt:lpstr>Hard vs Soft Margin</vt:lpstr>
      <vt:lpstr>Linear vs Non-Linear</vt:lpstr>
      <vt:lpstr>Kernel Trick</vt:lpstr>
      <vt:lpstr>Working Steps</vt:lpstr>
      <vt:lpstr>C Parameter</vt:lpstr>
      <vt:lpstr>Advantages</vt:lpstr>
      <vt:lpstr>Disadvantages</vt:lpstr>
      <vt:lpstr>Python Code</vt:lpstr>
      <vt:lpstr>Applications</vt:lpstr>
      <vt:lpstr>SVM vs KNN</vt:lpstr>
      <vt:lpstr>Key Concepts</vt:lpstr>
      <vt:lpstr>Interview Questions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Uzair Hussain</cp:lastModifiedBy>
  <cp:revision>7</cp:revision>
  <dcterms:created xsi:type="dcterms:W3CDTF">2013-01-27T09:14:16Z</dcterms:created>
  <dcterms:modified xsi:type="dcterms:W3CDTF">2026-05-03T00:30:03Z</dcterms:modified>
  <cp:category/>
</cp:coreProperties>
</file>