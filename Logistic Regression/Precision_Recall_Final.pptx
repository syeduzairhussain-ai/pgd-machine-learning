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9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Precision, Recall, and F1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Understand evaluation when accuracy fails</a:t>
            </a:r>
          </a:p>
          <a:p>
            <a:r>
              <a:t>Focus on imbalanced datasets</a:t>
            </a:r>
          </a:p>
          <a:p>
            <a:r>
              <a:t>Learn Precision, Recall, F1 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Task 1: Why Accuracy Fails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513" y="1284514"/>
            <a:ext cx="8904515" cy="539931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Task 1: Why Accuracy Fails</a:t>
            </a:r>
          </a:p>
          <a:p>
            <a:r>
              <a:rPr lang="en-US" dirty="0"/>
              <a:t>Accuracy can be misleading when classes are imbalanced.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Scenario: </a:t>
            </a:r>
            <a:r>
              <a:rPr lang="en-US" dirty="0"/>
              <a:t>You are building a model to detect terrorists at an airport.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Data</a:t>
            </a:r>
            <a:r>
              <a:rPr lang="en-US" dirty="0"/>
              <a:t>: Out of 1,000 people, 999 are not terrorists and only 1 is.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Model: </a:t>
            </a:r>
            <a:r>
              <a:rPr lang="en-US" dirty="0"/>
              <a:t>A simple model that always predicts "Not a Terrorist".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Requirement: </a:t>
            </a:r>
          </a:p>
          <a:p>
            <a:r>
              <a:rPr lang="en-US" dirty="0"/>
              <a:t>1. Calculate the accuracy of this model.</a:t>
            </a:r>
          </a:p>
          <a:p>
            <a:r>
              <a:rPr lang="en-US" dirty="0"/>
              <a:t>2. Explain why this 99.9% accuracy score is considered a failure in this context.</a:t>
            </a:r>
          </a:p>
          <a:p>
            <a:r>
              <a:rPr b="1" dirty="0">
                <a:solidFill>
                  <a:schemeClr val="accent4">
                    <a:lumMod val="75000"/>
                  </a:schemeClr>
                </a:solidFill>
              </a:rPr>
              <a:t>Scenario: Detect terrorists</a:t>
            </a:r>
          </a:p>
          <a:p>
            <a:r>
              <a:rPr b="1" dirty="0">
                <a:solidFill>
                  <a:schemeClr val="accent4">
                    <a:lumMod val="75000"/>
                  </a:schemeClr>
                </a:solidFill>
              </a:rPr>
              <a:t>999 normal, 1 terrorist</a:t>
            </a:r>
          </a:p>
          <a:p>
            <a:r>
              <a:rPr b="1" dirty="0">
                <a:solidFill>
                  <a:schemeClr val="accent4">
                    <a:lumMod val="75000"/>
                  </a:schemeClr>
                </a:solidFill>
              </a:rPr>
              <a:t>Model predicts all 'Not Terrorist'</a:t>
            </a:r>
          </a:p>
          <a:p>
            <a:r>
              <a:rPr b="1" dirty="0">
                <a:solidFill>
                  <a:schemeClr val="accent4">
                    <a:lumMod val="75000"/>
                  </a:schemeClr>
                </a:solidFill>
              </a:rPr>
              <a:t>Accuracy ≈ 99.9% but useless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Correct = 999</a:t>
            </a:r>
          </a:p>
          <a:p>
            <a:r>
              <a:rPr dirty="0"/>
              <a:t>Total = 1000</a:t>
            </a:r>
          </a:p>
          <a:p>
            <a:r>
              <a:rPr dirty="0"/>
              <a:t>Accuracy = 99.9%</a:t>
            </a:r>
          </a:p>
          <a:p>
            <a:r>
              <a:rPr dirty="0"/>
              <a:t>Fails because terrorist not detected</a:t>
            </a:r>
          </a:p>
        </p:txBody>
      </p:sp>
      <p:pic>
        <p:nvPicPr>
          <p:cNvPr id="7" name="Picture 6" descr="A blackboard with white lines and a number&#10;&#10;AI-generated content may be incorrect.">
            <a:extLst>
              <a:ext uri="{FF2B5EF4-FFF2-40B4-BE49-F238E27FC236}">
                <a16:creationId xmlns:a16="http://schemas.microsoft.com/office/drawing/2014/main" id="{AA4C1AEE-873F-6233-77E0-6148F5252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3922028"/>
            <a:ext cx="6945085" cy="22041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5057" y="1077686"/>
                <a:ext cx="8806543" cy="560614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Task 2: Understanding Precision</a:t>
                </a:r>
              </a:p>
              <a:p>
                <a:r>
                  <a:rPr lang="en-US" dirty="0"/>
                  <a:t>Precision measures the proportion of predicted positive cases that were actually correct.</a:t>
                </a:r>
              </a:p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Definition: </a:t>
                </a:r>
                <a:r>
                  <a:rPr lang="en-US" dirty="0"/>
                  <a:t>Out of all cases predicted as "Positive," how many were truly positive?</a:t>
                </a:r>
              </a:p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Formula: </a:t>
                </a:r>
              </a:p>
              <a:p>
                <a:r>
                  <a:rPr lang="en-US" dirty="0"/>
                  <a:t>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𝑇𝑟𝑢𝑒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𝑃𝑜𝑠𝑖𝑡𝑖𝑣𝑒𝑠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𝑇𝑟𝑢𝑒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𝑃𝑜𝑠𝑖𝑡𝑖𝑣𝑒𝑠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 +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𝐹𝑎𝑙𝑠𝑒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𝑃𝑜𝑠𝑖𝑡𝑖𝑣𝑒𝑠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Practical Exercise: </a:t>
                </a:r>
                <a:r>
                  <a:rPr lang="en-US" dirty="0"/>
                  <a:t>In a spam filter, which is more dangerous: a False Positive (a real email marked as spam) or a False Negative (a spam email left in the inbox)?</a:t>
                </a:r>
              </a:p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Requirement: </a:t>
                </a:r>
                <a:r>
                  <a:rPr lang="en-US" dirty="0"/>
                  <a:t>Explain why a high precision is necessary for a spam detection model.</a:t>
                </a:r>
              </a:p>
              <a:p>
                <a:r>
                  <a:rPr b="1" dirty="0">
                    <a:solidFill>
                      <a:schemeClr val="accent4">
                        <a:lumMod val="75000"/>
                      </a:schemeClr>
                    </a:solidFill>
                  </a:rPr>
                  <a:t>Precision = TP / (TP + FP)</a:t>
                </a:r>
              </a:p>
              <a:p>
                <a:r>
                  <a:rPr b="1" dirty="0">
                    <a:solidFill>
                      <a:schemeClr val="accent4">
                        <a:lumMod val="75000"/>
                      </a:schemeClr>
                    </a:solidFill>
                  </a:rPr>
                  <a:t>Focus on correctness of positive predictions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5057" y="1077686"/>
                <a:ext cx="8806543" cy="5606143"/>
              </a:xfrm>
              <a:blipFill>
                <a:blip r:embed="rId2"/>
                <a:stretch>
                  <a:fillRect l="-969" t="-2067" r="-34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Spam filter case</a:t>
            </a:r>
          </a:p>
          <a:p>
            <a:r>
              <a:t>False Positive → real email lost</a:t>
            </a:r>
          </a:p>
          <a:p>
            <a:r>
              <a:t>Need high precision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A1B8E8-F613-A7A7-FCF2-4205EA451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25" y="3449023"/>
            <a:ext cx="8172677" cy="2821695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9301795-55C7-6D21-0D64-0F8FB39D3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25" y="247525"/>
            <a:ext cx="8172676" cy="285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45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Recall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5056" y="1175658"/>
                <a:ext cx="8730343" cy="540770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Task 3: Understanding Recall</a:t>
                </a:r>
              </a:p>
              <a:p>
                <a:r>
                  <a:rPr lang="en-US" dirty="0"/>
                  <a:t>Recall (or Sensitivity) measures the proportion of actual positive cases that were correctly identified.</a:t>
                </a:r>
              </a:p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Definition: </a:t>
                </a:r>
                <a:r>
                  <a:rPr lang="en-US" dirty="0"/>
                  <a:t>Out of all truly positive cases, how many did the model find?</a:t>
                </a:r>
              </a:p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Formula: </a:t>
                </a:r>
              </a:p>
              <a:p>
                <a:r>
                  <a:rPr lang="en-US" dirty="0"/>
                  <a:t>Recall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True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Positives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TP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True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Positives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TP</m:t>
                        </m:r>
                        <m:r>
                          <m:rPr>
                            <m:nor/>
                          </m:rPr>
                          <a:rPr lang="en-US" dirty="0"/>
                          <m:t>) + </m:t>
                        </m:r>
                        <m:r>
                          <m:rPr>
                            <m:nor/>
                          </m:rPr>
                          <a:rPr lang="en-US" dirty="0"/>
                          <m:t>False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Negatives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FN</m:t>
                        </m:r>
                        <m:r>
                          <m:rPr>
                            <m:nor/>
                          </m:rPr>
                          <a:rPr lang="en-US" dirty="0"/>
                          <m:t>)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Practical Exercise: In cancer detection, which is more dangerous: a False Positive (healthy patient told they have cancer) or a False Negative (sick patient told they are healthy)?</a:t>
                </a:r>
              </a:p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Requirement: </a:t>
                </a:r>
                <a:r>
                  <a:rPr lang="en-US" dirty="0"/>
                  <a:t>Explain why high recall is more important than high precision for medical diagnostic models.</a:t>
                </a:r>
              </a:p>
              <a:p>
                <a:r>
                  <a:rPr b="1" dirty="0">
                    <a:solidFill>
                      <a:schemeClr val="accent4">
                        <a:lumMod val="75000"/>
                      </a:schemeClr>
                    </a:solidFill>
                  </a:rPr>
                  <a:t>Recall = TP / (TP + FN)</a:t>
                </a:r>
              </a:p>
              <a:p>
                <a:r>
                  <a:rPr b="1" dirty="0">
                    <a:solidFill>
                      <a:schemeClr val="accent4">
                        <a:lumMod val="75000"/>
                      </a:schemeClr>
                    </a:solidFill>
                  </a:rPr>
                  <a:t>Focus on detecting all positives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5056" y="1175658"/>
                <a:ext cx="8730343" cy="5407704"/>
              </a:xfrm>
              <a:blipFill>
                <a:blip r:embed="rId2"/>
                <a:stretch>
                  <a:fillRect l="-978" t="-2142" b="-11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Recall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Cancer detection</a:t>
            </a:r>
          </a:p>
          <a:p>
            <a:r>
              <a:t>False Negative dangerous</a:t>
            </a:r>
          </a:p>
          <a:p>
            <a:r>
              <a:t>Need high recall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test results&#10;&#10;AI-generated content may be incorrect.">
            <a:extLst>
              <a:ext uri="{FF2B5EF4-FFF2-40B4-BE49-F238E27FC236}">
                <a16:creationId xmlns:a16="http://schemas.microsoft.com/office/drawing/2014/main" id="{F87239B1-1908-6485-60A4-87AC90DD9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49" y="3677378"/>
            <a:ext cx="6624160" cy="2315436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ACA6E57-9470-7379-F690-F472126CF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449" y="342632"/>
            <a:ext cx="6645216" cy="30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53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F1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43" y="1208314"/>
            <a:ext cx="8686800" cy="537504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Task 4: The F1 Score (Harmonic Mean)</a:t>
            </a:r>
          </a:p>
          <a:p>
            <a:r>
              <a:rPr lang="en-US" dirty="0"/>
              <a:t>The F1 Score provides a single value that balances both precision and recall.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Formula: </a:t>
            </a:r>
            <a:r>
              <a:rPr lang="en-US" dirty="0"/>
              <a:t>F1 Score = 2 x Precision x Recall Precision + Recall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Why Harmonic Mean? </a:t>
            </a:r>
            <a:r>
              <a:rPr lang="en-US" dirty="0"/>
              <a:t>It penalizes extreme values. If either precision or recall is very low, the F1 Score will be low.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Requirement: </a:t>
            </a:r>
            <a:r>
              <a:rPr lang="en-US" dirty="0"/>
              <a:t>Calculate the F1 score for two models: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Model A: </a:t>
            </a:r>
            <a:r>
              <a:rPr lang="en-US" dirty="0"/>
              <a:t>Precision = 0.8, Recall = 0.8.Model B: Precision = 0.6, Recall = 1.0.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Analysis: </a:t>
            </a:r>
            <a:r>
              <a:rPr lang="en-US" dirty="0"/>
              <a:t>Which model is better according to the F1 score?</a:t>
            </a:r>
          </a:p>
          <a:p>
            <a:r>
              <a:rPr b="1" dirty="0">
                <a:solidFill>
                  <a:schemeClr val="accent4">
                    <a:lumMod val="75000"/>
                  </a:schemeClr>
                </a:solidFill>
              </a:rPr>
              <a:t>F1 = 2*(P*R)/(P+R)</a:t>
            </a:r>
          </a:p>
          <a:p>
            <a:r>
              <a:rPr b="1" dirty="0">
                <a:solidFill>
                  <a:schemeClr val="accent4">
                    <a:lumMod val="75000"/>
                  </a:schemeClr>
                </a:solidFill>
              </a:rPr>
              <a:t>Balances precision and recall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F1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A: 0.8</a:t>
            </a:r>
          </a:p>
          <a:p>
            <a:r>
              <a:t>Model B: ~0.75</a:t>
            </a:r>
          </a:p>
          <a:p>
            <a:r>
              <a:t>Model A better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Multiclass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Macro Average</a:t>
            </a:r>
          </a:p>
          <a:p>
            <a:r>
              <a:t>Weighted Average</a:t>
            </a:r>
          </a:p>
          <a:p>
            <a:r>
              <a:t>Use classification_report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calculations</a:t>
            </a:r>
          </a:p>
          <a:p>
            <a:r>
              <a:t>Explain trade-off</a:t>
            </a:r>
          </a:p>
          <a:p>
            <a:r>
              <a:t>Attach sklearn 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= basic</a:t>
            </a:r>
          </a:p>
          <a:p>
            <a:r>
              <a:t>Precision/Recall = deeper 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564</Words>
  <Application>Microsoft Office PowerPoint</Application>
  <PresentationFormat>On-screen Show (4:3)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Office Theme</vt:lpstr>
      <vt:lpstr>Precision, Recall, and F1 Score</vt:lpstr>
      <vt:lpstr>Task 1: Why Accuracy Fails</vt:lpstr>
      <vt:lpstr>Accuracy Explanation</vt:lpstr>
      <vt:lpstr>Precision</vt:lpstr>
      <vt:lpstr>Precision Example</vt:lpstr>
      <vt:lpstr>PowerPoint Presentation</vt:lpstr>
      <vt:lpstr>Recall</vt:lpstr>
      <vt:lpstr>Recall Example</vt:lpstr>
      <vt:lpstr>PowerPoint Presentation</vt:lpstr>
      <vt:lpstr>F1 Score</vt:lpstr>
      <vt:lpstr>F1 Comparison</vt:lpstr>
      <vt:lpstr>Multiclass Metrics</vt:lpstr>
      <vt:lpstr>Submission</vt:lpstr>
      <vt:lpstr>Learning Note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Uzair Hussain</cp:lastModifiedBy>
  <cp:revision>6</cp:revision>
  <dcterms:created xsi:type="dcterms:W3CDTF">2013-01-27T09:14:16Z</dcterms:created>
  <dcterms:modified xsi:type="dcterms:W3CDTF">2026-04-24T21:50:11Z</dcterms:modified>
  <cp:category/>
</cp:coreProperties>
</file>