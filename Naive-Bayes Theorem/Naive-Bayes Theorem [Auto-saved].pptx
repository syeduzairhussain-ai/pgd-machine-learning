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57" r:id="rId6"/>
    <p:sldId id="258" r:id="rId7"/>
    <p:sldId id="259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95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Understanding Probability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17639"/>
            <a:ext cx="8926286" cy="5309732"/>
          </a:xfrm>
        </p:spPr>
        <p:txBody>
          <a:bodyPr>
            <a:normAutofit fontScale="85000" lnSpcReduction="20000"/>
          </a:bodyPr>
          <a:lstStyle/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Independent vs. Dependent Events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Independent Events: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Definition: </a:t>
            </a:r>
            <a:r>
              <a:rPr lang="en-US" dirty="0"/>
              <a:t>The outcome</a:t>
            </a:r>
            <a:r>
              <a:rPr dirty="0"/>
              <a:t> of one does not affect the other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Examples: </a:t>
            </a:r>
            <a:r>
              <a:rPr dirty="0"/>
              <a:t>Rolling a die or tossing a coin</a:t>
            </a:r>
          </a:p>
          <a:p>
            <a:r>
              <a:rPr dirty="0"/>
              <a:t>Probability remains same (1/6 each roll)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Dependent Events: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Definition: </a:t>
            </a:r>
            <a:r>
              <a:rPr dirty="0"/>
              <a:t>First outcome changes second probability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Example: </a:t>
            </a:r>
            <a:r>
              <a:rPr dirty="0"/>
              <a:t>Drawing marbles without replacement</a:t>
            </a:r>
          </a:p>
          <a:p>
            <a:r>
              <a:rPr dirty="0"/>
              <a:t>3 red, 2 green → probabilities change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Mathematical Rule:</a:t>
            </a:r>
          </a:p>
          <a:p>
            <a:r>
              <a:rPr b="1" dirty="0">
                <a:solidFill>
                  <a:schemeClr val="accent5">
                    <a:lumMod val="50000"/>
                  </a:schemeClr>
                </a:solidFill>
              </a:rPr>
              <a:t>P(A and B) = P(A) × P(B|A)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 (The probability of B given that A has occurred).</a:t>
            </a:r>
            <a:endParaRPr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screen with white text and colorful symbols&#10;&#10;AI-generated content may be incorrect.">
            <a:extLst>
              <a:ext uri="{FF2B5EF4-FFF2-40B4-BE49-F238E27FC236}">
                <a16:creationId xmlns:a16="http://schemas.microsoft.com/office/drawing/2014/main" id="{CC4FC731-8F0B-F77C-50EA-E29D4C412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24" y="412020"/>
            <a:ext cx="8954276" cy="2827265"/>
          </a:xfrm>
          <a:prstGeom prst="rect">
            <a:avLst/>
          </a:prstGeom>
        </p:spPr>
      </p:pic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766EC48-B355-3B98-AE16-DE55AB493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83" y="4492052"/>
            <a:ext cx="3932261" cy="7849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ED8A6-AD69-2FAB-0C52-F45A2B2F8E51}"/>
              </a:ext>
            </a:extLst>
          </p:cNvPr>
          <p:cNvSpPr txBox="1"/>
          <p:nvPr/>
        </p:nvSpPr>
        <p:spPr>
          <a:xfrm>
            <a:off x="866672" y="3479027"/>
            <a:ext cx="3516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CONDITIONAL PROBALITY</a:t>
            </a:r>
            <a:endParaRPr lang="en-PK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97C87E-6F4B-EDB8-DB98-91D64456C5F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78958" y="4118879"/>
            <a:ext cx="3289837" cy="25322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1EED8E-BF93-ED6A-804C-03CBDBF6BD71}"/>
              </a:ext>
            </a:extLst>
          </p:cNvPr>
          <p:cNvSpPr txBox="1"/>
          <p:nvPr/>
        </p:nvSpPr>
        <p:spPr>
          <a:xfrm>
            <a:off x="5173984" y="3479027"/>
            <a:ext cx="3015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NAÏVE BAYES THEOREM</a:t>
            </a:r>
          </a:p>
        </p:txBody>
      </p:sp>
    </p:spTree>
    <p:extLst>
      <p:ext uri="{BB962C8B-B14F-4D97-AF65-F5344CB8AC3E}">
        <p14:creationId xmlns:p14="http://schemas.microsoft.com/office/powerpoint/2010/main" val="183556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B84175-DEA1-2BBA-4780-4538427B10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7961" y="1600200"/>
            <a:ext cx="8287576" cy="353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16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 screenshot of a weather forecast&#10;&#10;AI-generated content may be incorrect.">
            <a:extLst>
              <a:ext uri="{FF2B5EF4-FFF2-40B4-BE49-F238E27FC236}">
                <a16:creationId xmlns:a16="http://schemas.microsoft.com/office/drawing/2014/main" id="{BC198818-64E3-5A84-36B4-45A4EA8C3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5" y="1657196"/>
            <a:ext cx="9053345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42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Assignment Task —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Project: Heart Disease Prediction</a:t>
            </a:r>
          </a:p>
          <a:p>
            <a:r>
              <a:t>Objective: Classify patients as High Risk (1) or Low Risk (0)</a:t>
            </a:r>
          </a:p>
          <a:p>
            <a:r>
              <a:t>Dataset: 200 patients</a:t>
            </a:r>
          </a:p>
          <a:p>
            <a:r>
              <a:t>Features:</a:t>
            </a:r>
          </a:p>
          <a:p>
            <a:r>
              <a:t>X1: Daily Steps</a:t>
            </a:r>
          </a:p>
          <a:p>
            <a:r>
              <a:t>X2: Sleep Hours</a:t>
            </a:r>
          </a:p>
          <a:p>
            <a:r>
              <a:t>Target: Heart Health Indicator</a:t>
            </a:r>
          </a:p>
          <a:p>
            <a:r>
              <a:t>Tasks:</a:t>
            </a:r>
          </a:p>
          <a:p>
            <a:r>
              <a:t>Check if variables are independent/dependent</a:t>
            </a:r>
          </a:p>
          <a:p>
            <a:r>
              <a:t>Train Logistic Regression model</a:t>
            </a:r>
          </a:p>
          <a:p>
            <a:r>
              <a:t>Threshold = 0.5</a:t>
            </a:r>
          </a:p>
          <a:p>
            <a:r>
              <a:t>If probability = 0.72 → classify as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Sigmoid Logic</a:t>
            </a:r>
          </a:p>
          <a:p>
            <a:r>
              <a:rPr dirty="0"/>
              <a:t>Given weights: w0 = -5, w1 = 0.001, w2 = 0.5</a:t>
            </a:r>
          </a:p>
          <a:p>
            <a:r>
              <a:rPr dirty="0"/>
              <a:t>Patient: Steps = 6000, Sleep = 7</a:t>
            </a:r>
          </a:p>
          <a:p>
            <a:r>
              <a:rPr dirty="0"/>
              <a:t>Step 1: z = w0 + (w1 × Steps) + (w2 × Sleep)</a:t>
            </a:r>
          </a:p>
          <a:p>
            <a:r>
              <a:rPr dirty="0"/>
              <a:t>Step 2: σ(z) = 1 / (1 + e^-z)</a:t>
            </a:r>
          </a:p>
          <a:p>
            <a:r>
              <a:rPr dirty="0"/>
              <a:t>Step 3: Compare with threshold 0.5</a:t>
            </a:r>
          </a:p>
          <a:p>
            <a:r>
              <a:rPr dirty="0"/>
              <a:t>Determine final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Generate Confusion Matrix</a:t>
            </a:r>
          </a:p>
          <a:p>
            <a:r>
              <a:t>Questions:</a:t>
            </a:r>
          </a:p>
          <a:p>
            <a:r>
              <a:t>False Positive: What does it mean?</a:t>
            </a:r>
          </a:p>
          <a:p>
            <a:r>
              <a:t>False Negative: What does it mean?</a:t>
            </a:r>
          </a:p>
          <a:p>
            <a:r>
              <a:t>Risk Assessment:</a:t>
            </a:r>
          </a:p>
          <a:p>
            <a:r>
              <a:t>Which error is more dangerous?</a:t>
            </a:r>
          </a:p>
          <a:p>
            <a:r>
              <a:t>Why higher Recall is important in medical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File: heart_prediction.py</a:t>
            </a:r>
          </a:p>
          <a:p>
            <a:r>
              <a:t>Include code + metrics</a:t>
            </a:r>
          </a:p>
          <a:p>
            <a:r>
              <a:t>Summary Slide:</a:t>
            </a:r>
          </a:p>
          <a:p>
            <a:r>
              <a:t>Explain Independent vs Dependent events</a:t>
            </a:r>
          </a:p>
          <a:p>
            <a:r>
              <a:t>Relate to real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13982</TotalTime>
  <Words>308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Understanding Probability Foundations</vt:lpstr>
      <vt:lpstr>PowerPoint Presentation</vt:lpstr>
      <vt:lpstr>PowerPoint Presentation</vt:lpstr>
      <vt:lpstr>PowerPoint Presentation</vt:lpstr>
      <vt:lpstr>Assignment Task — Logistic Regression</vt:lpstr>
      <vt:lpstr>Mathematical Implementation</vt:lpstr>
      <vt:lpstr>Model Evaluation</vt:lpstr>
      <vt:lpstr>Submission Requirements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Uzair Hussain</dc:creator>
  <cp:keywords/>
  <dc:description>generated using python-pptx</dc:description>
  <cp:lastModifiedBy>Syed Uzair Hussain</cp:lastModifiedBy>
  <cp:revision>9</cp:revision>
  <dcterms:created xsi:type="dcterms:W3CDTF">2013-01-27T09:14:16Z</dcterms:created>
  <dcterms:modified xsi:type="dcterms:W3CDTF">2026-07-16T22:10:02Z</dcterms:modified>
  <cp:category/>
</cp:coreProperties>
</file>